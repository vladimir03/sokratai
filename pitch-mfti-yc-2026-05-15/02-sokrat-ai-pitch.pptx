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Calibri"/>
              </a:rPr>
              <a:t>AI-сообщений в управляемом чате за неделю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AI-сообщения за неделю</c:v>
                </c:pt>
              </c:strCache>
            </c:strRef>
          </c:tx>
          <c:spPr>
            <a:solidFill>
              <a:srgbClr val="1B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09 мар</c:v>
                  </c:pt>
                  <c:pt idx="1">
                    <c:v>16 мар</c:v>
                  </c:pt>
                  <c:pt idx="2">
                    <c:v>23 мар</c:v>
                  </c:pt>
                  <c:pt idx="3">
                    <c:v>30 мар</c:v>
                  </c:pt>
                  <c:pt idx="4">
                    <c:v>06 апр</c:v>
                  </c:pt>
                  <c:pt idx="5">
                    <c:v>13 апр</c:v>
                  </c:pt>
                  <c:pt idx="6">
                    <c:v>20 апр</c:v>
                  </c:pt>
                  <c:pt idx="7">
                    <c:v>27 апр</c:v>
                  </c:pt>
                  <c:pt idx="8">
                    <c:v>04 май</c:v>
                  </c:pt>
                  <c:pt idx="9">
                    <c:v>11 май*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33</c:v>
                </c:pt>
                <c:pt idx="2">
                  <c:v>114</c:v>
                </c:pt>
                <c:pt idx="3">
                  <c:v>139</c:v>
                </c:pt>
                <c:pt idx="4">
                  <c:v>278</c:v>
                </c:pt>
                <c:pt idx="5">
                  <c:v>516</c:v>
                </c:pt>
                <c:pt idx="6">
                  <c:v>97</c:v>
                </c:pt>
                <c:pt idx="7">
                  <c:v>298</c:v>
                </c:pt>
                <c:pt idx="8">
                  <c:v>362</c:v>
                </c:pt>
                <c:pt idx="9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 ДЛЯ РЕПЕТИТОРОВ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Сократ AI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рукописные ДЗ. Ведёт ученика. Собирает базу задач.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Физика, Математика · ЕГЭ, ОГЭ. Сегодня — 3 платящих репетитора. Завтра — 1 000.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6035040"/>
            <a:ext cx="54864" cy="36576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Pitch МФТИ × Yandex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мая 2026 · Владимир Камчаткин, CEO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ДЗ съедает рабочее время репетитора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боли, которые держат рынок частного репетиторства в технологическом средневековье.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8008" y="2286000"/>
            <a:ext cx="3566160" cy="310896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8008" y="2286000"/>
            <a:ext cx="73152" cy="3108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048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часа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8048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НЕДЕЛЮ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048" y="3977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проверки ДЗ группы из 10 учеников. Репетитор теряет оплачиваемые часы — 4 500–6 000 ₽ прямого недополученного дохода в неделю.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2768" y="2286000"/>
            <a:ext cx="3566160" cy="310896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2768" y="2286000"/>
            <a:ext cx="73152" cy="3108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2808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32808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СПИСЫВАНИЕ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2808" y="3977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ученики используют LLM как ГДЗ. Решения «правильные», но метод не запоминают. Балл ЕГЭ не растёт — репетитор виноват.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528" y="2286000"/>
            <a:ext cx="3566160" cy="310896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7528" y="2286000"/>
            <a:ext cx="73152" cy="3108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7568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Выгорание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27568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ОТТОК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27568" y="3977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 не может масштабироваться. Больше учеников → падает качество → уходят. Меньше → не дотягивает по доходу.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8521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вторая </a:t>
            </a:r>
            <a:pPr indent="0" marL="0">
              <a:buNone/>
            </a:pPr>
            <a:r>
              <a:rPr lang="en-US" sz="13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российская семья школьника платит репетитору. Конкуренция за репетиторов </a:t>
            </a:r>
            <a:pPr indent="0" marL="0">
              <a:buNone/>
            </a:pPr>
            <a:r>
              <a:rPr lang="en-US" sz="1300" b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 YoY</a:t>
            </a:r>
            <a:pPr indent="0" marL="0">
              <a:buNone/>
            </a:pPr>
            <a:r>
              <a:rPr lang="en-US" sz="13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(Q1 2026). Траты на репетиторов выросли на </a:t>
            </a:r>
            <a:pPr indent="0" marL="0">
              <a:buNone/>
            </a:pPr>
            <a:r>
              <a:rPr lang="en-US" sz="1300" b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 за 5 лет</a:t>
            </a:r>
            <a:pPr indent="0" marL="0">
              <a:buNone/>
            </a:pPr>
            <a:r>
              <a:rPr lang="en-US" sz="13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AI-агента в одном рабочем процессе репетитора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Сократ AI делает работу, за которую репетитору не платят, — чтобы он зарабатывал на той, за которую платят.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6860" y="219456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860" y="2194560"/>
            <a:ext cx="3611880" cy="731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900" y="2468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6900" y="2788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AI-проверка рукописных ДЗ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6900" y="3383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ч → 40 мин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6900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присылает фото решения в Сократе AI. AI распознаёт формулы, дроби, векторы, графики. Точность OCR ~92%. Классификация ошибок: вычислительные vs концептуальные, с привязкой к кодификатору ФИПИ.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9908" y="219456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89908" y="2194560"/>
            <a:ext cx="3611880" cy="731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9948" y="2468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09948" y="2788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Сократовский диалог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9948" y="3383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Наводит, не подсказывает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09948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Управляемый чат по конкретной задаче. AI ведёт ученика наводящими вопросами вместо готовых ответов. Защита от утечки эталонного решения — Сократ AI принципиально не даёт списать.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2956" y="219456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2956" y="2194560"/>
            <a:ext cx="3611880" cy="731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2996" y="2468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22996" y="2788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ДЗ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22996" y="3383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минут вместо часа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22996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задач (Демидова, ФИПИ-демоверсии) + личный архив репетитора + AI-генерация похожих задач одним кликом. Шаблоны, шеринг, аналитика по ученикам.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126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 продаёт работу. Сократ AI её делает.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задачи в базе до балла ЕГЭ — 4 шага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Замкнутый процесс между репетитором и учеником. AI везде, где раньше уходило время вручную.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5148" y="2194560"/>
            <a:ext cx="269748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9468" y="25603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69468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 собирает ДЗ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9468" y="4480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общей базы Демидова, личного архива или AI-генерация похожих задач. 5 минут.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10916" y="3657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29788" y="2194560"/>
            <a:ext cx="269748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4108" y="25603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604108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решает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4108" y="4480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или Telegram-бот. Присылает фото рукописного решения.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45556" y="3657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64428" y="2194560"/>
            <a:ext cx="269748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38748" y="25603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438748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ведёт диалог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8748" y="4480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Сократовский разбор по шагам. AI читает фото, проверяет, задаёт наводящие вопросы.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80196" y="3657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999068" y="2194560"/>
            <a:ext cx="269748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73388" y="25603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273388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 получает аналитику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3388" y="4480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ошибок по кодификатору ФИПИ. Видит, где ученик буксует.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бесплатного апрельского пилота — к платным в мае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в марте, бесплатный пилот в апреле, первая выручка в мае. Каждый платящий — органический референс от Егора Блинова.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1140" y="2194560"/>
            <a:ext cx="2743200" cy="192024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402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+ 6 + 4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1402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· TRIAL · 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402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активных репетиторов · 0 churn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3212" y="2194560"/>
            <a:ext cx="2743200" cy="192024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6092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₽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76092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6092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 · первая выручка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5284" y="2194560"/>
            <a:ext cx="2743200" cy="192024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8164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1 886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38164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AI-СООБЩЕНИЙ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38164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них 1 310 за последние 30 дней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17356" y="2194560"/>
            <a:ext cx="2743200" cy="192024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00236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200236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РЕШЕНО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00236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AI-сообщений на задачу · глубокий разбор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ОТ MVP К ПЛАТНОМУ ПИЛОТУ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1140" y="4892040"/>
            <a:ext cx="2743200" cy="155448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1140" y="4892040"/>
            <a:ext cx="54864" cy="155448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740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974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9740" y="5715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Запустили базовый конструктор ДЗ + Telegram-бот.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3212" y="4892040"/>
            <a:ext cx="2743200" cy="155448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3212" y="4892040"/>
            <a:ext cx="54864" cy="155448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1812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АПРЕЛЬ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1812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пилот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21812" y="5715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Подключили репетиторов в режиме тестирования.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55284" y="4892040"/>
            <a:ext cx="2743200" cy="155448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5284" y="4892040"/>
            <a:ext cx="54864" cy="155448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3884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83884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выручка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83884" y="5715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репетитора на платном тарифе. 4 000 ₽ MRR.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17356" y="4892040"/>
            <a:ext cx="2743200" cy="155448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17356" y="4892040"/>
            <a:ext cx="54864" cy="155448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45956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ИЮНЬ–СЕНТЯБРЬ 2026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45956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30 платящих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245956" y="5715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к учебному году 2026/27. ×10 рост платящей базы.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MAU · 14 WAU · 40 уникальных активных учеников · 0 churn среди платящих с момента запуска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РЫНКА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говорят пилотные репетиторы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сценарии. Не CRM. Реальные сообщения из чата за апрель–май 2026.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7315200" cy="420624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91440" cy="4206240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фишка — помощь ИИ в проверке ДЗ. Для меня это эталон того, как новые инструменты нужно применять для пользы себе и ученикам, а не бояться их или запрещать.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38404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Ученики, кстати, тоже говорят, что это круто, и с удовольствием обсуждают с Сократом свои задачи. Думаю, что за подобным подходом будущее, и хочу активно быть в нём.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5212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ЕЛЕНА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5532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 физики ЕГЭ и ОГЭ · платящий пилот с мая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611880" cy="201168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3774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«Собираю ДЗ за 5 минут из базы. AI-проверка экономит 2 часа на группу школьников каждую неделю.»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3611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ЕГОР БЛИНОВ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· 2×100 ЕГЭ · 10 лет репетиторства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438912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4389120"/>
            <a:ext cx="3611880" cy="73152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5720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«Очень нравится, как вы преподносите материал, какие плюшки в виде сайтов, ИИ вы делаете…»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5852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УЧЕНИК ЕГОРА · МАЙ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6126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пришло само, без просьбы об отзыве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2-я российская семья платит репетитору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растёт быстрее зарплат. Конкуренция за репетиторов удваивается. Технологий, которые делают репетитора эффективнее, в РФ нет.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669280" cy="118872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23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180–240 млрд ₽ / год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частного репетиторства в РФ. ≈300–400 тыс. репетиторов × ср. чек 50 тыс ₽/мес.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4422038" cy="1188720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НАШ WEDGE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3873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млрд ₽ / год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38733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 ЕГЭ/ОГЭ. 38% выпускников ЕГЭ берут репетитора по физике.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2834640" cy="118872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166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ЦЕЛЬ Y1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млн ₽ ARR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" y="5897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платящих репетиторов × 1 000 ₽/мес.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286000"/>
            <a:ext cx="5120640" cy="137160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286000"/>
            <a:ext cx="73152" cy="1371600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89720" y="2514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числа желающих стать репетитором в Q1 2026 (МК)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840480"/>
            <a:ext cx="5120640" cy="137160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3840480"/>
            <a:ext cx="73152" cy="1371600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5 ЛЕТ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89720" y="4069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выросли траты семей на репетиторов. В 1.6× опережает инфляцию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394960"/>
            <a:ext cx="5120640" cy="137160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5394960"/>
            <a:ext cx="73152" cy="1371600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5532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858000" y="6172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89720" y="56235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AI-проверки рукописных ДЗ для репетиторов в РФ нет. CloudText, кураторы-студенты (15-20к ₽/мес) — без AI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finance.mail.ru, Накануне.RU, МК, Sberbank.Investments (Q1 2026)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квадрант на пересечении AI × «для репетитора»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Российские CRM-платформы не делают AI. Онлайн-школы конкурируют за ученика. AI-тьюторы (Khanmigo, Brilliant) — не в РФ. 100balnik (топ-5 школа) тестирует AI только внутри школы.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2286000"/>
            <a:ext cx="731520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286000"/>
            <a:ext cx="0" cy="3931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371600" y="4251960"/>
            <a:ext cx="7315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7160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AI 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45720" y="3337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репетитора 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-45720" y="4800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ученика 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для репетиторов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Skillspace · GetCourse · ProgressMe · AnyLeson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Онлайн-школы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Умскул · Фоксфорд · 100balnik · Сотка · Maximum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2423160"/>
            <a:ext cx="3383280" cy="1691640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СОКРАТ 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 для репетиторов физики ЕГЭ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Узкий AI · Покупатель — репетитор · B2B2C-канал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4617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AI-тьюторы (не в РФ)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Khanmigo · Brilliant · Duolingo Max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ChatGPT-as-tutor — учит списывать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100balnik (топ-5 онлайн-школа) запустила AI-проверку ДЗ — но только для своих учеников внутри школы. Для рынка частных репетиторов AI-продукта в РФ нет.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 · ЗАЩИТА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 и почему мы защищены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сегодня — массовый товар. Конкуренцию выигрывает тот, кто построит петлю данных в узкой нише раньше других.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6860" y="214884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860" y="2148840"/>
            <a:ext cx="73152" cy="393192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90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ВРЕМЯ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6900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Узкий AI &gt; универсальный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6900" y="3749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Sequoia AI Ascent 2026: «модели, заточенные под экспертные ниши, где точность важнее размера, выигрывают». В 2026 рынок забирает тот, кто строит доменную экспертизу поверх LLM, а не пытается заменить LLM.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9908" y="214884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9908" y="2148840"/>
            <a:ext cx="73152" cy="393192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9948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ЗАЩИТА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09948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Петля данных в управляемом чате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9948" y="3749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прорешанное ДЗ улучшает наши Сократовские промпты под физику ЕГЭ. Эталонные решения от репетиторов + ошибки учеников по кодификатору ФИПИ = собственные данные для обучения, которых нет ни у кого.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2956" y="214884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2956" y="2148840"/>
            <a:ext cx="73152" cy="393192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996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ДИСТРИБУЦИЯ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22996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 как канал (B2B2C)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22996" y="3749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платящий репетитор = 10–30 учеников на платформе. Органический рост через рекомендации от репетитора к репетитору в своих профессиональных кругах. Самый низкий CAC в EdTech.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открыто 12–18 месяцев. </a:t>
            </a:r>
            <a:pPr indent="0" marL="0">
              <a:buNone/>
            </a:pPr>
            <a:r>
              <a:rPr lang="en-US" sz="1300" b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Российских EdTech-игроков, способных собрать AI-агента для репетиторов под ЕГЭ, всего 3–4 (Умскул, Фоксфорд, 100balnik, Skyeng). </a:t>
            </a:r>
            <a:pPr indent="0" marL="0">
              <a:buNone/>
            </a:pPr>
            <a:r>
              <a:rPr lang="en-US" sz="13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первый пройдёт через 100 платящих репетиторов — заберёт нишу.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по числу учеников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для репетитора. Цена растёт с размером его аудитории. ROI — окупаемость за первую неделю использования.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448" y="2194560"/>
            <a:ext cx="3474720" cy="402336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3768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3768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₽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83768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навсегда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3768" y="40690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Оплаты `/pay` в Telegram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и профили учеников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ограничений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8488" y="2194560"/>
            <a:ext cx="3474720" cy="402336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2808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AI-СТАРТ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2808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1 000 ₽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32808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мес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32808" y="40690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AI-проверка рукописных ДЗ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Сократовский диалог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AI-сообщений / день / ученика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10 учеников — 1 000 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 — 2 000 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528" y="2194560"/>
            <a:ext cx="3474720" cy="402336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1848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AI-КОМАНДА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81848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3 000 ₽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81848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мес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81848" y="40690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учеников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Командная база задач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и поддержка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(по запросу)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в дорожной карте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 </a:t>
            </a:r>
            <a:pPr algn="ctr" indent="0" marL="0">
              <a:buNone/>
            </a:pPr>
            <a:r>
              <a:rPr lang="en-US" sz="1300" b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репетитора — 1.5–2 тыс ₽</a:t>
            </a:r>
            <a:pPr algn="ctr" indent="0" marL="0">
              <a:buNone/>
            </a:pPr>
            <a:r>
              <a:rPr lang="en-US" sz="13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AI экономит  </a:t>
            </a:r>
            <a:pPr algn="ctr" indent="0" marL="0">
              <a:buNone/>
            </a:pPr>
            <a:r>
              <a:rPr lang="en-US" sz="1300" b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часа в неделю</a:t>
            </a:r>
            <a:pPr algn="ctr" indent="0" marL="0">
              <a:buNone/>
            </a:pPr>
            <a:r>
              <a:rPr lang="en-US" sz="13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подписка отбивается  </a:t>
            </a:r>
            <a:pPr algn="ctr" indent="0" marL="0">
              <a:buNone/>
            </a:pPr>
            <a:r>
              <a:rPr lang="en-US" sz="1300" b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первой неделей.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Физтех × EdTech × 10 лет репетиторства физики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основатель ведёт продукт, AI-стек и инфру. Co-founder — топ-репетитор физики ЕГЭ из МФТИ. Профильная команда без лишних расходов.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448" y="2148840"/>
            <a:ext cx="5303520" cy="420624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9488" y="2468880"/>
            <a:ext cx="822960" cy="82296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9488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89608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Камчаткин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89608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CPO · FOUNDER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9488" y="35204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МФТИ. Экс-Фоксфорд (продакт виртуального класса для репетиторов). Экс-Т-Образование (продуктовый аналитик). Знает EdTech-стек изнутри: что покупают репетиторы, что покупают родители, и почему ChatGPT-as-tutor — зло для школьников.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8" y="5897880"/>
            <a:ext cx="5303520" cy="45720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3768" y="5897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t.me/datanewgold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2148840"/>
            <a:ext cx="5303520" cy="420624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98768" y="2468880"/>
            <a:ext cx="822960" cy="82296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8768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558888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Егор Блинов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58888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TUTOR EXPERT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98768" y="35204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МФТИ, преподаватель. Дважды 100-балльник ЕГЭ. 10 лет репетиторства по физике ОГЭ / ЕГЭ / олимпиадам. Основатель онлайн-школы Razveday.ru. Lead-репетитор пилота. Привлекает других репетиторов в продукт через профессиональное сообщество.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5897880"/>
            <a:ext cx="5303520" cy="457200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3048" y="5897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t.me/sokrat_rep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· YANDEX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нам нужно от Yandex Cloud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 + дистрибуция через экосистему Яндекса. Взамен — кейс узкого AI-агента в экспертной нише и собственные русскоязычные данные для YandexGPT.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6568" y="265176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6568" y="2651760"/>
            <a:ext cx="5486400" cy="9144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328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2328" y="3429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 1 млн ₽ на Yandex AI Studio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2328" y="4343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топовым моделям в Yandex AI Studio: YandexGPT + Yandex Cloud. Мультимодальность для рукописных решений учеников. Соответствие требованиям российской юрисдикции.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265176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8728" y="2651760"/>
            <a:ext cx="5486400" cy="9144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4488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44488" y="3429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Дистрибуция через экосистему Яндекса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44488" y="4343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Попадание в Yandex Cloud Marketplace как B2B-решение для EdTech-сегмента. Партнёрский канал к репетиторам через Яндекс.Учебник и связанные продукты.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943600"/>
            <a:ext cx="91440" cy="457200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943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Камчаткин — CEO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  ·  t.me/sokrat_rep  ·  t.me/datanewgold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Топ-репетиторы платформы по AI-нагрузке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активных репетиторов · данные за всё время до 12 мая 2026 · upper-bound органического роста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4114800" cy="384048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2103120"/>
            <a:ext cx="2011680" cy="384048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103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УЧЕНИКОВ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2103120"/>
            <a:ext cx="2011680" cy="384048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2103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СОЗДАНО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9680" y="2103120"/>
            <a:ext cx="2743200" cy="384048"/>
          </a:xfrm>
          <a:prstGeom prst="rect">
            <a:avLst/>
          </a:prstGeom>
          <a:solidFill>
            <a:srgbClr val="0F3D2C"/>
          </a:solidFill>
          <a:ln w="12700">
            <a:solidFill>
              <a:srgbClr val="0F3D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AI-СООБЩЕНИЙ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487168"/>
            <a:ext cx="41148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87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Егор Блинов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487168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2487168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2487168"/>
            <a:ext cx="27432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4871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871216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712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Елена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87121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8712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287121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8712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69680" y="287121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28712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255264"/>
            <a:ext cx="41148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2552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Евгений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3255264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69680" y="3255264"/>
            <a:ext cx="27432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32552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3639312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639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Полина Николаевна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363931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639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0" y="363931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3639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69680" y="363931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3639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1520" y="4023360"/>
            <a:ext cx="41148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023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(test-аккаунт)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46320" y="4023360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0" y="4023360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869680" y="4023360"/>
            <a:ext cx="27432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0" y="4023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31520" y="4407408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44074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Вадим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46320" y="440740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58000" y="440740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869680" y="440740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52560" y="4407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31520" y="4791456"/>
            <a:ext cx="41148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47914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Эмилия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846320" y="4791456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4791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58000" y="4791456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40880" y="4791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869680" y="4791456"/>
            <a:ext cx="27432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52560" y="4791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31520" y="5175504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44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Андрей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846320" y="517550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51755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858000" y="517550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40880" y="51755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869680" y="5175504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052560" y="51755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31520" y="5559552"/>
            <a:ext cx="41148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4400" y="5559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Татьяна Анатольевна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846320" y="5559552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29200" y="5559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858000" y="5559552"/>
            <a:ext cx="20116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40880" y="5559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869680" y="5559552"/>
            <a:ext cx="27432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052560" y="5559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31520" y="5943600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14400" y="5943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Мария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4846320" y="594360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0" y="5943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858000" y="594360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40880" y="5943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869680" y="594360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052560" y="5943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запрос к homework_tutor_thread_messages × homework_tutor_assignments × profiles · group by tutor · order by AI-сообщений DESC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1 / 2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AI-нагрузки по неделям · март–май 2026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Кратный рост к майским праздникам. Каждый новый платящий репетитор приводит 10–30 учеников за 1–2 недели.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11094415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1 310 / 1 886 ≈ 70% AI-нагрузки</a:t>
            </a:r>
            <a:pPr indent="0" marL="0">
              <a:buNone/>
            </a:pPr>
            <a:r>
              <a:rPr lang="en-US" sz="1200" dirty="0">
                <a:solidFill>
                  <a:srgbClr val="0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 последние 30 дней. Пиковая неделя 13 апреля (516 сообщений) — момент онбординга платящих репетиторов. * 11 мая — неполная неделя (1 день данных).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2 /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sokratai.ru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SokratAI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Сократ AI — AI-агент для репетиторов физики ЕГЭ</dc:title>
  <dc:subject>PptxGenJS Presentation</dc:subject>
  <dc:creator>Vladimir Kamchatkin / SokratAI</dc:creator>
  <cp:lastModifiedBy>Vladimir Kamchatkin / SokratAI</cp:lastModifiedBy>
  <cp:revision>1</cp:revision>
  <dcterms:created xsi:type="dcterms:W3CDTF">2026-05-12T18:12:03Z</dcterms:created>
  <dcterms:modified xsi:type="dcterms:W3CDTF">2026-05-12T18:12:03Z</dcterms:modified>
</cp:coreProperties>
</file>